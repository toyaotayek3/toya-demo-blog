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Poppins"/>
      <p:regular r:id="rId14"/>
      <p:bold r:id="rId15"/>
      <p:italic r:id="rId16"/>
      <p:boldItalic r:id="rId17"/>
    </p:embeddedFont>
    <p:embeddedFont>
      <p:font typeface="Lato"/>
      <p:regular r:id="rId18"/>
      <p:bold r:id="rId19"/>
      <p:italic r:id="rId20"/>
      <p:boldItalic r:id="rId21"/>
    </p:embeddedFont>
    <p:embeddedFont>
      <p:font typeface="Montserrat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22" Type="http://schemas.openxmlformats.org/officeDocument/2006/relationships/font" Target="fonts/Montserrat-regular.fntdata"/><Relationship Id="rId21" Type="http://schemas.openxmlformats.org/officeDocument/2006/relationships/font" Target="fonts/Lato-boldItalic.fntdata"/><Relationship Id="rId24" Type="http://schemas.openxmlformats.org/officeDocument/2006/relationships/font" Target="fonts/Montserrat-italic.fntdata"/><Relationship Id="rId23" Type="http://schemas.openxmlformats.org/officeDocument/2006/relationships/font" Target="fonts/Montserra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Montserra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Poppins-bold.fntdata"/><Relationship Id="rId14" Type="http://schemas.openxmlformats.org/officeDocument/2006/relationships/font" Target="fonts/Poppins-regular.fntdata"/><Relationship Id="rId17" Type="http://schemas.openxmlformats.org/officeDocument/2006/relationships/font" Target="fonts/Poppins-boldItalic.fntdata"/><Relationship Id="rId16" Type="http://schemas.openxmlformats.org/officeDocument/2006/relationships/font" Target="fonts/Poppins-italic.fntdata"/><Relationship Id="rId19" Type="http://schemas.openxmlformats.org/officeDocument/2006/relationships/font" Target="fonts/Lato-bold.fntdata"/><Relationship Id="rId18" Type="http://schemas.openxmlformats.org/officeDocument/2006/relationships/font" Target="fonts/La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d04d3b3585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d04d3b358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d04d3b3585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d04d3b358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Relationship Id="rId4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Relationship Id="rId4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13.png"/><Relationship Id="rId7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4.png"/><Relationship Id="rId5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7.png"/><Relationship Id="rId9" Type="http://schemas.openxmlformats.org/officeDocument/2006/relationships/image" Target="../media/image10.png"/><Relationship Id="rId5" Type="http://schemas.openxmlformats.org/officeDocument/2006/relationships/image" Target="../media/image2.png"/><Relationship Id="rId6" Type="http://schemas.openxmlformats.org/officeDocument/2006/relationships/image" Target="../media/image14.png"/><Relationship Id="rId7" Type="http://schemas.openxmlformats.org/officeDocument/2006/relationships/image" Target="../media/image3.png"/><Relationship Id="rId8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0" y="3538537"/>
            <a:ext cx="762000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555432" y="938212"/>
            <a:ext cx="9081135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Gemini &amp; Classe Inversée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809750" y="2328862"/>
            <a:ext cx="8572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Transformer l'apprentissage avec l'IA : du visionnage autonome au débat critique en classe.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00300"/>
            <a:ext cx="5286375" cy="3057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543175"/>
            <a:ext cx="5286375" cy="277177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962025" y="3524250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1. Hors Classe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962025" y="4067175"/>
            <a:ext cx="45053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L'élève visionne une vidéo ciblée. Il s'approprie les concepts à son rythme, garantissant un socle commun avant d'entrer en classe.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724650" y="3667125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2. En Classe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724650" y="4210050"/>
            <a:ext cx="45053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Le temps est dédié à l'interaction. On utilise un support généré par Gemini pour approfondir et débattre.</a:t>
            </a:r>
            <a:endParaRPr/>
          </a:p>
        </p:txBody>
      </p:sp>
      <p:pic>
        <p:nvPicPr>
          <p:cNvPr descr="image.png" id="99" name="Google Shape;9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2838450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24650" y="2981325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LE FLUX PÉDAGOGIQUE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24062"/>
            <a:ext cx="3810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024062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6334125" y="2933700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L'Engagement Préalable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6334125" y="3209925"/>
            <a:ext cx="52863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La ressource vidéo choisie par l'enseignant est la source unique de vérité. L'élève construit ses premières connexions neuronales loin du stress de la salle de classe.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6334125" y="4210050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Gemini s'appuiera ensuite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exclusivement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sur cette ressource pour la suite du processus.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PHASE 1 : L'AUTONOMIE</a:t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9" name="Google Shape;11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571500" y="571500"/>
            <a:ext cx="5550693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PHASE 2 : ANALYSE GEMINI</a:t>
            </a:r>
            <a:endParaRPr/>
          </a:p>
        </p:txBody>
      </p:sp>
      <p:pic>
        <p:nvPicPr>
          <p:cNvPr descr="image.png" id="121" name="Google Shape;12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571500" y="2000250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Gemini agit comme un ingénieur pédagogique : il analyse la vidéo, extrait les points clés et structure une présentation cohérente.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532075" y="3217150"/>
            <a:ext cx="52863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Zéro Hallucination 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En forçant l'IA à se limiter à la vidéo, vous obtenez un support fidèle et précis pour votre session en classe.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8" name="Google Shape;12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648200"/>
            <a:ext cx="110490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304925"/>
            <a:ext cx="5381625" cy="3057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8875" y="1304925"/>
            <a:ext cx="5381625" cy="3057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648200"/>
            <a:ext cx="11049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 txBox="1"/>
          <p:nvPr/>
        </p:nvSpPr>
        <p:spPr>
          <a:xfrm>
            <a:off x="962025" y="2428875"/>
            <a:ext cx="483060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Analyse Profonde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962025" y="2971800"/>
            <a:ext cx="46005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Gemini insère une question de "Critical Thinking" par slide, exigeant une évaluation des faits présentés.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6629400" y="2428875"/>
            <a:ext cx="483060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Déclencheur de Débat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6629400" y="2971800"/>
            <a:ext cx="46005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Chaque question devient un point d'entrée pour l'échange entre élèves, transformant le cours en atelier dynamique.</a:t>
            </a:r>
            <a:endParaRPr/>
          </a:p>
        </p:txBody>
      </p:sp>
      <p:pic>
        <p:nvPicPr>
          <p:cNvPr descr="image.png" id="137" name="Google Shape;137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2025" y="174307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29400" y="1743075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>
            <a:off x="762000" y="3048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L'ATOUT : PENSÉE CRITIQUE</a:t>
            </a:r>
            <a:endParaRPr/>
          </a:p>
        </p:txBody>
      </p:sp>
      <p:sp>
        <p:nvSpPr>
          <p:cNvPr id="140" name="Google Shape;140;p17"/>
          <p:cNvSpPr/>
          <p:nvPr/>
        </p:nvSpPr>
        <p:spPr>
          <a:xfrm>
            <a:off x="571500" y="304800"/>
            <a:ext cx="95250" cy="6191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5" name="Google Shape;14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8"/>
          <p:cNvSpPr/>
          <p:nvPr/>
        </p:nvSpPr>
        <p:spPr>
          <a:xfrm>
            <a:off x="571500" y="3910012"/>
            <a:ext cx="11049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8"/>
          <p:cNvSpPr txBox="1"/>
          <p:nvPr/>
        </p:nvSpPr>
        <p:spPr>
          <a:xfrm>
            <a:off x="510733" y="4214812"/>
            <a:ext cx="255219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Source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571500" y="4548187"/>
            <a:ext cx="243066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Sélectionnez la vidéo pour les élèves.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3383413" y="2595562"/>
            <a:ext cx="255219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Prompt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3444180" y="2928937"/>
            <a:ext cx="243066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Donnez le lien à Gemini avec le prompt expert.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6256094" y="4214812"/>
            <a:ext cx="255219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Génération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6316860" y="4548187"/>
            <a:ext cx="243066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Générez les slides structurées avec questions.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9128774" y="2595562"/>
            <a:ext cx="255219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Interaction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9189541" y="2928937"/>
            <a:ext cx="243066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Animez la classe avec le support final.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WORKFLOW : DE LA VIDÉO AU COURS</a:t>
            </a:r>
            <a:endParaRPr/>
          </a:p>
        </p:txBody>
      </p:sp>
      <p:sp>
        <p:nvSpPr>
          <p:cNvPr id="156" name="Google Shape;156;p18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/>
          <p:nvPr/>
        </p:nvSpPr>
        <p:spPr>
          <a:xfrm>
            <a:off x="1691580" y="383381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4564260" y="383381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7436941" y="383381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10309621" y="383381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9"/>
          <p:cNvSpPr txBox="1"/>
          <p:nvPr/>
        </p:nvSpPr>
        <p:spPr>
          <a:xfrm>
            <a:off x="0" y="0"/>
            <a:ext cx="11725500" cy="58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Agis en tant qu'ingénieur pédagogique expert en classe inversée. Analyse soigneusement la vidéo suivante : </a:t>
            </a:r>
            <a:r>
              <a:rPr b="1" lang="en-US" sz="1800">
                <a:solidFill>
                  <a:schemeClr val="dk1"/>
                </a:solidFill>
              </a:rPr>
              <a:t>[LIEN]</a:t>
            </a:r>
            <a:r>
              <a:rPr lang="en-US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Ta mission est de concevoir une présentation de </a:t>
            </a:r>
            <a:r>
              <a:rPr b="1" lang="en-US" sz="1800">
                <a:solidFill>
                  <a:schemeClr val="dk1"/>
                </a:solidFill>
              </a:rPr>
              <a:t>7 diapositives</a:t>
            </a:r>
            <a:r>
              <a:rPr lang="en-US" sz="1800">
                <a:solidFill>
                  <a:schemeClr val="dk1"/>
                </a:solidFill>
              </a:rPr>
              <a:t> strictement basée exclusivement sur le contenu de cette vidéo.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Structure de la présentation :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</a:rPr>
              <a:t>Slide 1 :</a:t>
            </a:r>
            <a:r>
              <a:rPr lang="en-US" sz="1800">
                <a:solidFill>
                  <a:schemeClr val="dk1"/>
                </a:solidFill>
              </a:rPr>
              <a:t> Titre de la leçon et lien cliquable vers la vidéo.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</a:rPr>
              <a:t>Slides 2 à 7 :</a:t>
            </a:r>
            <a:r>
              <a:rPr lang="en-US" sz="1800">
                <a:solidFill>
                  <a:schemeClr val="dk1"/>
                </a:solidFill>
              </a:rPr>
              <a:t> Pour chaque diapositive, fournis :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>
                <a:solidFill>
                  <a:schemeClr val="dk1"/>
                </a:solidFill>
              </a:rPr>
              <a:t>Un </a:t>
            </a:r>
            <a:r>
              <a:rPr b="1" lang="en-US" sz="1800">
                <a:solidFill>
                  <a:schemeClr val="dk1"/>
                </a:solidFill>
              </a:rPr>
              <a:t>titre pédagogique</a:t>
            </a:r>
            <a:r>
              <a:rPr lang="en-US" sz="1800">
                <a:solidFill>
                  <a:schemeClr val="dk1"/>
                </a:solidFill>
              </a:rPr>
              <a:t> percutant.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>
                <a:solidFill>
                  <a:schemeClr val="dk1"/>
                </a:solidFill>
              </a:rPr>
              <a:t>Un </a:t>
            </a:r>
            <a:r>
              <a:rPr b="1" lang="en-US" sz="1800">
                <a:solidFill>
                  <a:schemeClr val="dk1"/>
                </a:solidFill>
              </a:rPr>
              <a:t>résumé synthétique</a:t>
            </a:r>
            <a:r>
              <a:rPr lang="en-US" sz="1800">
                <a:solidFill>
                  <a:schemeClr val="dk1"/>
                </a:solidFill>
              </a:rPr>
              <a:t> (max 3 puces) des points clés, en précisant systématiquement le </a:t>
            </a:r>
            <a:r>
              <a:rPr b="1" lang="en-US" sz="1800">
                <a:solidFill>
                  <a:schemeClr val="dk1"/>
                </a:solidFill>
              </a:rPr>
              <a:t>timestamp</a:t>
            </a:r>
            <a:r>
              <a:rPr lang="en-US" sz="1800">
                <a:solidFill>
                  <a:schemeClr val="dk1"/>
                </a:solidFill>
              </a:rPr>
              <a:t> associé 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>
                <a:solidFill>
                  <a:schemeClr val="dk1"/>
                </a:solidFill>
              </a:rPr>
              <a:t>Une </a:t>
            </a:r>
            <a:r>
              <a:rPr b="1" lang="en-US" sz="1800">
                <a:solidFill>
                  <a:schemeClr val="dk1"/>
                </a:solidFill>
              </a:rPr>
              <a:t>question de 'Critical Thinking'</a:t>
            </a:r>
            <a:r>
              <a:rPr lang="en-US" sz="1800">
                <a:solidFill>
                  <a:schemeClr val="dk1"/>
                </a:solidFill>
              </a:rPr>
              <a:t> de haut niveau (taxonomie de Bloom : Analyser ou Évaluer) pour lancer un débat en classe.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-US" sz="1800">
                <a:solidFill>
                  <a:schemeClr val="dk1"/>
                </a:solidFill>
              </a:rPr>
              <a:t>Visuel :</a:t>
            </a:r>
            <a:r>
              <a:rPr lang="en-US" sz="1800">
                <a:solidFill>
                  <a:schemeClr val="dk1"/>
                </a:solidFill>
              </a:rPr>
              <a:t> Identifie et décris précisément la capture d'écran de la vidéo à insérer pour illustrer cette slide (indique le minutage exact).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>
                <a:solidFill>
                  <a:schemeClr val="dk1"/>
                </a:solidFill>
              </a:rPr>
              <a:t>Ajoute une synthèse finale : design selon ton choix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Formate l'ensemble de façon structurée (Markdown) pour faciliter un copier-coller direct vers Google Slides."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0"/>
          <p:cNvSpPr txBox="1"/>
          <p:nvPr/>
        </p:nvSpPr>
        <p:spPr>
          <a:xfrm>
            <a:off x="21300" y="2098775"/>
            <a:ext cx="12149400" cy="29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Merci pour votre attention</a:t>
            </a:r>
            <a:endParaRPr b="1" sz="3300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Une question ? Un projet ?</a:t>
            </a:r>
            <a:endParaRPr b="1" sz="1300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6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4155"/>
                </a:solidFill>
              </a:rPr>
              <a:t>L'innovation pédagogique est un chemin collaboratif. N'hésitez pas à nous contacter pour approfondir ces concepts ou partager vos retours d'expérience.</a:t>
            </a:r>
            <a:endParaRPr sz="1500">
              <a:solidFill>
                <a:srgbClr val="334155"/>
              </a:solidFill>
            </a:endParaRPr>
          </a:p>
          <a:p>
            <a:pPr indent="0" lvl="0" marL="190500" marR="190500" rtl="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F172A"/>
                </a:solidFill>
                <a:highlight>
                  <a:srgbClr val="FFFFFF"/>
                </a:highlight>
              </a:rPr>
              <a:t>toya.ot@gmail.com</a:t>
            </a:r>
            <a:endParaRPr sz="1100">
              <a:solidFill>
                <a:srgbClr val="0F172A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60000"/>
              </a:lnSpc>
              <a:spcBef>
                <a:spcPts val="2300"/>
              </a:spcBef>
              <a:spcAft>
                <a:spcPts val="1500"/>
              </a:spcAft>
              <a:buNone/>
            </a:pPr>
            <a:r>
              <a:rPr b="1" i="1" lang="en-US" sz="1500">
                <a:solidFill>
                  <a:srgbClr val="334155"/>
                </a:solidFill>
              </a:rPr>
              <a:t>"L'IA ne remplace pas l'enseignant, elle amplifie sa capacité à engager ses élèves."</a:t>
            </a:r>
            <a:endParaRPr b="1" i="1" sz="1500">
              <a:solidFill>
                <a:srgbClr val="334155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